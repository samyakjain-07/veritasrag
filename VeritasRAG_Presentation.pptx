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9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318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41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41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38648" y="1051560"/>
            <a:ext cx="914400" cy="91440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veritas/icons/shie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092" y="1175004"/>
            <a:ext cx="667512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488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VeritasRAG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0" y="3127248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Trustworthy RAG Integrity Layer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272888" y="3822192"/>
            <a:ext cx="1645920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0" y="3950208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Poisoning  ·  Verify Provenance  ·  Prove Erasure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5" y="6240673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AI/ML Project  |  Minor → Major Project Presentation</a:t>
            </a:r>
            <a:endParaRPr 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BF93E4-8E25-5023-0B3C-2F6F6A9DAE6D}"/>
              </a:ext>
            </a:extLst>
          </p:cNvPr>
          <p:cNvSpPr txBox="1"/>
          <p:nvPr/>
        </p:nvSpPr>
        <p:spPr>
          <a:xfrm>
            <a:off x="4596560" y="4361688"/>
            <a:ext cx="2998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GROUP - 2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C5DB63-ED8D-BA01-5398-E637CA5AAABC}"/>
              </a:ext>
            </a:extLst>
          </p:cNvPr>
          <p:cNvSpPr txBox="1"/>
          <p:nvPr/>
        </p:nvSpPr>
        <p:spPr>
          <a:xfrm>
            <a:off x="2489322" y="5227490"/>
            <a:ext cx="768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Samyak Jain              Rohit Kumar           Sameer Gurjar          Ronak </a:t>
            </a:r>
            <a:r>
              <a:rPr lang="en-US" dirty="0" err="1">
                <a:solidFill>
                  <a:schemeClr val="bg1"/>
                </a:solidFill>
              </a:rPr>
              <a:t>Deshwal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(2300321540162)               (2300321540154)           (2300321540161)               (2300321540156)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D0A9E4-9C58-5E86-B02F-F9564DDAF66A}"/>
              </a:ext>
            </a:extLst>
          </p:cNvPr>
          <p:cNvSpPr txBox="1"/>
          <p:nvPr/>
        </p:nvSpPr>
        <p:spPr>
          <a:xfrm>
            <a:off x="3962246" y="5871341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Guide : Ms. Shreya Mam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69461-3673-757B-86A8-63724371083D}"/>
              </a:ext>
            </a:extLst>
          </p:cNvPr>
          <p:cNvSpPr txBox="1"/>
          <p:nvPr/>
        </p:nvSpPr>
        <p:spPr>
          <a:xfrm>
            <a:off x="4258962" y="4838515"/>
            <a:ext cx="367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Team Members: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THIS TALK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17820" cy="1117854"/>
          </a:xfrm>
          <a:prstGeom prst="roundRect">
            <a:avLst>
              <a:gd name="adj" fmla="val 654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" y="1711071"/>
            <a:ext cx="530352" cy="530352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veritas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10" y="1782669"/>
            <a:ext cx="387157" cy="3871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90472"/>
            <a:ext cx="4411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Problem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71600" y="1801368"/>
            <a:ext cx="441198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RAG's unguarded attack surface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736342"/>
            <a:ext cx="5417820" cy="1117854"/>
          </a:xfrm>
          <a:prstGeom prst="roundRect">
            <a:avLst>
              <a:gd name="adj" fmla="val 654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7512" y="3030093"/>
            <a:ext cx="530352" cy="530352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veritas/icons/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10" y="3101691"/>
            <a:ext cx="387157" cy="3871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09494"/>
            <a:ext cx="4411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Now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71600" y="3120390"/>
            <a:ext cx="441198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landscape &amp; regulation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4055364"/>
            <a:ext cx="5417820" cy="1117854"/>
          </a:xfrm>
          <a:prstGeom prst="roundRect">
            <a:avLst>
              <a:gd name="adj" fmla="val 654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67512" y="4349115"/>
            <a:ext cx="530352" cy="530352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veritas/icon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10" y="4420713"/>
            <a:ext cx="387157" cy="3871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128516"/>
            <a:ext cx="4411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Research Gap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71600" y="4439412"/>
            <a:ext cx="441198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&amp; patents miss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5374386"/>
            <a:ext cx="5417820" cy="1117854"/>
          </a:xfrm>
          <a:prstGeom prst="roundRect">
            <a:avLst>
              <a:gd name="adj" fmla="val 654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7512" y="5668137"/>
            <a:ext cx="530352" cy="530352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veritas/icons/layergro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10" y="5739735"/>
            <a:ext cx="387157" cy="38715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5447538"/>
            <a:ext cx="4411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Proposed System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371600" y="5758434"/>
            <a:ext cx="441198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VeritasRAG's three pillars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40780" y="1417320"/>
            <a:ext cx="5417820" cy="1117854"/>
          </a:xfrm>
          <a:prstGeom prst="roundRect">
            <a:avLst>
              <a:gd name="adj" fmla="val 654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405372" y="1711071"/>
            <a:ext cx="530352" cy="530352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veritas/icons/projectdiagram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6970" y="1782669"/>
            <a:ext cx="387157" cy="38715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09460" y="1490472"/>
            <a:ext cx="4411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Architecture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109460" y="1801368"/>
            <a:ext cx="441198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design &amp; AI/ML stack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40780" y="2736342"/>
            <a:ext cx="5417820" cy="1117854"/>
          </a:xfrm>
          <a:prstGeom prst="roundRect">
            <a:avLst>
              <a:gd name="adj" fmla="val 654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405372" y="3030093"/>
            <a:ext cx="530352" cy="530352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/home/claude/veritas/icons/gave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6970" y="3101691"/>
            <a:ext cx="387157" cy="38715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09460" y="2809494"/>
            <a:ext cx="4411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Novelty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109460" y="3120390"/>
            <a:ext cx="441198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whitespace &amp; claims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240780" y="4055364"/>
            <a:ext cx="5417820" cy="1117854"/>
          </a:xfrm>
          <a:prstGeom prst="roundRect">
            <a:avLst>
              <a:gd name="adj" fmla="val 654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6405372" y="4349115"/>
            <a:ext cx="530352" cy="530352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6" descr="/home/claude/veritas/icons/calenda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970" y="4420713"/>
            <a:ext cx="387157" cy="38715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09460" y="4128516"/>
            <a:ext cx="4411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Project Scope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7109460" y="4439412"/>
            <a:ext cx="441198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→ Major roadmap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6240780" y="5374386"/>
            <a:ext cx="5417820" cy="1117854"/>
          </a:xfrm>
          <a:prstGeom prst="roundRect">
            <a:avLst>
              <a:gd name="adj" fmla="val 6544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6405372" y="5668137"/>
            <a:ext cx="530352" cy="530352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7" descr="/home/claude/veritas/icons/clipboar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6970" y="5739735"/>
            <a:ext cx="387157" cy="38715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09460" y="5447538"/>
            <a:ext cx="4411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Impact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7109460" y="5758434"/>
            <a:ext cx="4411980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market, risk &amp; conclusion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Agenda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Trusts Everything That Enters the Knowledge 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9092" y="1920240"/>
            <a:ext cx="676656" cy="676656"/>
          </a:xfrm>
          <a:prstGeom prst="ellipse">
            <a:avLst/>
          </a:prstGeom>
          <a:solidFill>
            <a:srgbClr val="E63946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veritas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441" y="2011589"/>
            <a:ext cx="493959" cy="4939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Poisoning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injected document can silently corrupt retrieval and hijack the generated answer — with no gate to stop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19572" y="192024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veritas/icons/fingerpr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921" y="2011589"/>
            <a:ext cx="493959" cy="4939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Provenance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32918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carry no verifiable source or trust signal, so retrieval cannot tell a trusted filing from a planted one.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83880" y="16002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560052" y="1920240"/>
            <a:ext cx="676656" cy="676656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veritas/icons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401" y="2011589"/>
            <a:ext cx="493959" cy="4939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88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Unverifiable Erasure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58200" y="32918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“Deleted” data can persist as reconstructible ‘ghost vectors’ inside the index — deletion is not proof of deletion.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507492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77240" y="50749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these are handled by three disconnected tools — security scanners, provenance logs, deletion scripts — and none offer a verifiable guarantee.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Problem Statement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Threat Is Proven. The Regulation Is Real.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606040" cy="109728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attack success rate injecting just 5 malicious texts into a million-document knowledge base (USENIX Security 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64992" y="1600200"/>
            <a:ext cx="2606040" cy="109728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02152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₹250 Cr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47872" y="27889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DPDP Act penalty per breach category — with no grace period after the compliance deadline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27064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27064" y="1600200"/>
            <a:ext cx="2606040" cy="109728"/>
          </a:xfrm>
          <a:prstGeom prst="round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64224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May 2027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9944" y="27889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DPDP full-compliance deadline, making the “right to erasure” an operational AI-architecture requirement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89136" y="16002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89136" y="1600200"/>
            <a:ext cx="2606040" cy="109728"/>
          </a:xfrm>
          <a:prstGeom prst="round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26296" y="1920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$9.86 B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72016" y="278892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2030 RAG market size, up from $1.94B in 2025 — a 38.4% CAGR (MarketsandMarkets)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Zou, Geng, Wang &amp; Jia (USENIX Security 2025); DPDP Act 2023 &amp; DPDP Rules 2025; MarketsandMarkets (Oct/Nov 2025)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Motivation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Defenses Exist — But None Are Unified or Verifiable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veritas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34" y="185097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Defenses — Fragmented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TrustRAG, RAGuard — corpus-level filtering, evaded by adaptive single-doc attacks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RevPRAG — activation-based detection, model-internal only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RAGForensics — traceback/attribution after the fact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remain research prototypes — none combine detection with provenance or erasure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5087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3680" y="1783080"/>
            <a:ext cx="502920" cy="50292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veritas/icons/gave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574" y="1850974"/>
            <a:ext cx="367132" cy="3671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830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 Landscape — Narrow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83680" y="2423160"/>
            <a:ext cx="4800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HiddenLayer family — activation-based prompt-injection detection only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Preamble US 12,118,471 B2 — token-level trust-tagging for generation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Digital/Symantec US 10,225,277 B1 — loss-difference unlearning verification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patent couples provenance + poisoning-detection + verifiable vector-DB erasure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5257800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77240" y="5257800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single system or patent unifies detection → provenance → verifiable erasure into one pipeline.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Research Gap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DRIVER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DPDP Act Turns “Erasure” Into an Architecture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veritas/icons/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47" y="1705127"/>
            <a:ext cx="567385" cy="5673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+ DPDP Rules 2025 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(notified November 2025) set full Phase-III compliance for </a:t>
            </a: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May 2027</a:t>
            </a: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18 months from notification, with no grace period.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6060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commentary (SCC Times, June 2026)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Argues that applying the DPDP right to erasure to AI systems requires cryptographic commitment to training data, documented retraining after erasure requests, and provable exclusion of deleted data — not just a database delete.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6060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9224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reality (S.S. Rana &amp; Co.)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92240" y="310896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that machine unlearning today is costly, time-consuming, and not fully reliable in practice — exactly the operational gap VeritasRAG's verifiable-unlearning module is built to close.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5212080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5212080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a locally-grounded, globally-relevant compliance hook that maps directly onto VeritasRAG's verifiable-unlearning contribution.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Regulatory Driver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Middleware Layer, Three Guarantees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97380" y="1828800"/>
            <a:ext cx="640080" cy="640080"/>
          </a:xfrm>
          <a:prstGeom prst="ellipse">
            <a:avLst/>
          </a:prstGeom>
          <a:solidFill>
            <a:srgbClr val="E63946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veritas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791" y="1915211"/>
            <a:ext cx="467258" cy="467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Poisoning Detection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32918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+ similarity-cluster anomaly detection at the retrieval-corpus level — deliberately outside prompt-activation detection patents.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55448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3786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veritas/icons/fingerprin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271" y="1915211"/>
            <a:ext cx="467258" cy="4672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&amp; Trust-Tier Gating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17720" y="32918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signed document provenance; low-trust chunks are down-weighted or quarantined at retrieval time, not after the fact.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83880" y="155448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578340" y="1828800"/>
            <a:ext cx="640080" cy="64008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veritas/icons/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751" y="1915211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Unlearning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58200" y="32918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Vector-database deletion issues a signed “deletion receipt” and defends against embedding-reconstruction (‘ghost vector’) attacks.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5029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contribution: </a:t>
            </a: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detection → provenance-attribution → verifiable-removal loop, with cryptographic proof-of-deletion for a vector index.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Proposed Solution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1472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6336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38248" y="2057400"/>
            <a:ext cx="146304" cy="13716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0032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 → PII redaction → poison pre-scan → provenance signer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93696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48560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30472" y="2057400"/>
            <a:ext cx="146304" cy="13716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02256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/ OpenAI embedding models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5920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40784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Sidecar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2696" y="2057400"/>
            <a:ext cx="146304" cy="13716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4480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/ Milvus with provenance metadata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8144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33008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Policy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14920" y="2057400"/>
            <a:ext cx="146304" cy="13716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6704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Trust-tier gating + anomaly detection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70368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25232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Check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07144" y="2057400"/>
            <a:ext cx="146304" cy="137160"/>
          </a:xfrm>
          <a:prstGeom prst="rightArrow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78928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faithfulness verification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62592" y="16916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F2B705"/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17456" y="1746504"/>
            <a:ext cx="1517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71152" y="2670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ASR monitoring, audit log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97764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7240" y="4361688"/>
            <a:ext cx="640080" cy="64008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0" descr="/home/claude/veritas/icons/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1" y="4448099"/>
            <a:ext cx="467258" cy="46725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645920" y="41422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Unlearning Service (parallel path into the Vector DB)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645920" y="454456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Delete-by-ID request  →  index compaction / rebuild  →  signed deletion receipt (defends against embedding-reconstruction “ghost vectors”)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FastAPI + Python  •  Orchestration: LangGraph (create_agent)  •  Deployment: Docker + WSL2, GitHub Actions CI/CD  •  Monitoring: OpenTelemetry + Ragas/Phoenix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Architecture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1459992"/>
          </a:xfrm>
          <a:prstGeom prst="roundRect">
            <a:avLst>
              <a:gd name="adj" fmla="val 501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4088" y="1909572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veritas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23" y="1986107"/>
            <a:ext cx="413857" cy="4138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727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Detector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883664"/>
            <a:ext cx="429768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+ similarity-cluster anomaly detection; optional fine-tuned classifier, with LLM-as-judge as a baseline.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94960" cy="1459992"/>
          </a:xfrm>
          <a:prstGeom prst="roundRect">
            <a:avLst>
              <a:gd name="adj" fmla="val 501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64808" y="1909572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veritas/icons/netwo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343" y="1986107"/>
            <a:ext cx="413857" cy="41385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5727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78040" y="1883664"/>
            <a:ext cx="429768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/ OpenAI embeddings — our existing, proven toolchain.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02920" y="3179064"/>
            <a:ext cx="5394960" cy="1459992"/>
          </a:xfrm>
          <a:prstGeom prst="roundRect">
            <a:avLst>
              <a:gd name="adj" fmla="val 501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4088" y="362559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veritas/icons/check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623" y="3702131"/>
            <a:ext cx="413857" cy="41385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8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Faithfulness Checker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599688"/>
            <a:ext cx="429768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that generated answers are actually supported by cited chunks.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263640" y="3179064"/>
            <a:ext cx="5394960" cy="1459992"/>
          </a:xfrm>
          <a:prstGeom prst="roundRect">
            <a:avLst>
              <a:gd name="adj" fmla="val 501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64808" y="362559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veritas/icons/projectdiagram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343" y="3702131"/>
            <a:ext cx="413857" cy="41385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288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Provenance-Graph GNN (optional)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78040" y="3599688"/>
            <a:ext cx="429768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reasoning over document trust and source relationships.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02920" y="4895088"/>
            <a:ext cx="5394960" cy="1459992"/>
          </a:xfrm>
          <a:prstGeom prst="roundRect">
            <a:avLst>
              <a:gd name="adj" fmla="val 501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04088" y="53416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veritas/icons/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623" y="5418155"/>
            <a:ext cx="413857" cy="41385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0048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315712"/>
            <a:ext cx="429768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current langchain.agents.create_agent pattern.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263640" y="4895088"/>
            <a:ext cx="5394960" cy="1459992"/>
          </a:xfrm>
          <a:prstGeom prst="roundRect">
            <a:avLst>
              <a:gd name="adj" fmla="val 501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464808" y="53416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/home/claude/veritas/icons/datab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1343" y="5418155"/>
            <a:ext cx="413857" cy="41385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50048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Core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178040" y="5315712"/>
            <a:ext cx="429768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/ Milvus — both already used in the student's prior work.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AI/ML Components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TO OPERATE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Patent Whitespace Lives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069080" y="1508760"/>
            <a:ext cx="315468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69080" y="1508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508760"/>
            <a:ext cx="4279392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06640" y="1508760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VeritasRAG's Position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HiddenLayer patent family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20574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0" y="205740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Activation-based prompt-injection detection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2057400"/>
            <a:ext cx="4279392" cy="1051560"/>
          </a:xfrm>
          <a:prstGeom prst="roundRect">
            <a:avLst>
              <a:gd name="adj" fmla="val 6957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43800" y="2057400"/>
            <a:ext cx="4005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detects at the retrieval-corpus level — no overlap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18688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21868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Digital / Symantec US 10,225,277 B1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3218688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0" y="3218688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Loss-difference influence-function unlearning verification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3218688"/>
            <a:ext cx="4279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43800" y="3218688"/>
            <a:ext cx="4005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issues a cryptographic deletion receipt at the vector-DB layer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379976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37997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patent found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69080" y="4379976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06240" y="4379976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4379976"/>
            <a:ext cx="4279392" cy="1051560"/>
          </a:xfrm>
          <a:prstGeom prst="roundRect">
            <a:avLst>
              <a:gd name="adj" fmla="val 6957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43800" y="4379976"/>
            <a:ext cx="4005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provenance + poisoning-detection + verifiable-unlearning pipeline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586984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patent claims: </a:t>
            </a: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gating retrieval by cryptographically-verified provenance to suppress poisoned content; (2) verifiable vector-index erasure producing a signed deletion receipt resistant to reconstruction.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Novelty &amp; Patents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 — Prototype Evolves Into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 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 detection + provenance / trust-tier gating on a single vector DB (Qdrant)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synthetic poisoned corpus built from Natural Questions / HotpotQA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self-contained, publishable unit on its own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33288" y="3410712"/>
            <a:ext cx="694944" cy="402336"/>
          </a:xfrm>
          <a:prstGeom prst="rightArrow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37960" y="16459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122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1228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 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28346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Verifiable unlearning with signed cryptographic deletion receipts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LLMOps observability dashboard (traces, ASR monitoring, audit log)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Agentic-RAG threat coverage, multi-tenant deployment, DPDP-compliance mapping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to proceed to the major: ≥30-point ASR reduction vs. an undefended baseline at &lt;15% retrieval-precision loss, plus a working signed-provenance metadata path.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Project Scope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M1 → M7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834640"/>
            <a:ext cx="10607040" cy="0"/>
          </a:xfrm>
          <a:prstGeom prst="line">
            <a:avLst/>
          </a:prstGeom>
          <a:noFill/>
          <a:ln w="381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1208" y="25786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poison generator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0" cy="246888"/>
          </a:xfrm>
          <a:prstGeom prst="line">
            <a:avLst/>
          </a:prstGeom>
          <a:noFill/>
          <a:ln w="12700">
            <a:solidFill>
              <a:srgbClr val="E3E8F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9048" y="25786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904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67840" y="3246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trust-tier gating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45080" y="3090672"/>
            <a:ext cx="0" cy="155448"/>
          </a:xfrm>
          <a:prstGeom prst="line">
            <a:avLst/>
          </a:prstGeom>
          <a:noFill/>
          <a:ln w="12700">
            <a:solidFill>
              <a:srgbClr val="E3E8F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56888" y="25786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5688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3568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paper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2920" y="2331720"/>
            <a:ext cx="0" cy="246888"/>
          </a:xfrm>
          <a:prstGeom prst="line">
            <a:avLst/>
          </a:prstGeom>
          <a:noFill/>
          <a:ln w="12700">
            <a:solidFill>
              <a:srgbClr val="E3E8F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24728" y="2578608"/>
            <a:ext cx="512064" cy="51206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2472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3246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3090672"/>
            <a:ext cx="0" cy="155448"/>
          </a:xfrm>
          <a:prstGeom prst="line">
            <a:avLst/>
          </a:prstGeom>
          <a:noFill/>
          <a:ln w="12700">
            <a:solidFill>
              <a:srgbClr val="E3E8F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92568" y="2578608"/>
            <a:ext cx="512064" cy="51206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9256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7136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48600" y="2331720"/>
            <a:ext cx="0" cy="246888"/>
          </a:xfrm>
          <a:prstGeom prst="line">
            <a:avLst/>
          </a:prstGeom>
          <a:noFill/>
          <a:ln w="12700">
            <a:solidFill>
              <a:srgbClr val="E3E8F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360408" y="2578608"/>
            <a:ext cx="512064" cy="51206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6040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39200" y="3246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Agentic-RAG coverage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16440" y="3090672"/>
            <a:ext cx="0" cy="155448"/>
          </a:xfrm>
          <a:prstGeom prst="line">
            <a:avLst/>
          </a:prstGeom>
          <a:noFill/>
          <a:ln w="12700">
            <a:solidFill>
              <a:srgbClr val="E3E8F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128248" y="2578608"/>
            <a:ext cx="512064" cy="51206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12824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070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paper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1384280" y="2331720"/>
            <a:ext cx="0" cy="246888"/>
          </a:xfrm>
          <a:prstGeom prst="line">
            <a:avLst/>
          </a:prstGeom>
          <a:noFill/>
          <a:ln w="12700">
            <a:solidFill>
              <a:srgbClr val="E3E8F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2920" y="51663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5800" y="5367528"/>
            <a:ext cx="201168" cy="2011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05840" y="5166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M1–M3  =  Minor Project (prototype)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26480" y="5166360"/>
            <a:ext cx="5559552" cy="777240"/>
          </a:xfrm>
          <a:prstGeom prst="roundRect">
            <a:avLst>
              <a:gd name="adj" fmla="val 941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09360" y="5367528"/>
            <a:ext cx="201168" cy="201168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29400" y="5166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M4–M7  =  Major Project (production)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Roadmap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 &amp; Success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82496"/>
            <a:ext cx="713232" cy="713232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veritas/icons/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26" y="1778782"/>
            <a:ext cx="520659" cy="520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08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threshold: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≥30-point ASR reduction vs. an undefended baseline, at &lt;15% retrieval-precision loss, plus a working signed-provenance metadata path.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78892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9718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4892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 (ASR) reduction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Poison-detection precision / recall / F1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Retrieval-precision degradation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Unlearning verification (membership-inference resistance)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latency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278892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29718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&amp; Datasets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37960" y="3383280"/>
            <a:ext cx="4892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Questions, MS-MARCO, HotpotQA — for poisoning ASR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Security Bench — for defense comparison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/ WMDP-style suites — for unlearning verification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Evaluation Plan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POTENTIAL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Fast-Growing, Regulation-Driven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$1.94B → $9.86B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market size, 2025 → 2030 (38.4% CAGR)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6280" y="1737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2000" y="2423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YC Spring 2025 batch were AI-agent companies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83880" y="15544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66760" y="1737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BFSI + Healthcare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412480" y="2423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&amp; fastest-growing early-adopter segments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11183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/home/claude/veritas/icons/rock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" y="3823106"/>
            <a:ext cx="400507" cy="40050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0876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Market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2960" y="44348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“RAG firewall + compliance layer” for enterprise RAG deployments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on-prem for BFSI / government — data-residency friendly, DPDP-aligned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 with a paid governance / audit tier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Research-lab extensions into agentic and multimodal RAG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Market &amp; Commercial Potential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We've Already Planned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73736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463040"/>
            <a:ext cx="315468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31720" y="1463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463040"/>
            <a:ext cx="6263640" cy="41148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0" y="146304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" y="1947672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31720" y="1947672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41448" y="1947672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attackers defeat detection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1947672"/>
            <a:ext cx="6263640" cy="713232"/>
          </a:xfrm>
          <a:prstGeom prst="roundRect">
            <a:avLst>
              <a:gd name="adj" fmla="val 10256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87568" y="1947672"/>
            <a:ext cx="6044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+ human-in-the-loop for high-risk actions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752344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" y="2752344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31720" y="2752344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41448" y="2752344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RAG-security space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2752344"/>
            <a:ext cx="6263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87568" y="2752344"/>
            <a:ext cx="6044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via the unified, verifiable framing + a released benchmark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557016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" y="3557016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31720" y="3557016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41448" y="3557016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with existing claims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77840" y="3557016"/>
            <a:ext cx="6263640" cy="713232"/>
          </a:xfrm>
          <a:prstGeom prst="roundRect">
            <a:avLst>
              <a:gd name="adj" fmla="val 10256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87568" y="3557016"/>
            <a:ext cx="6044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activation-based &amp; loss-difference claims specifically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361688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2648" y="4361688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Ethical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331720" y="4361688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41448" y="4361688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attack methods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4361688"/>
            <a:ext cx="6263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87568" y="4361688"/>
            <a:ext cx="6044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responsible-disclosure norms; emphasize defense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16636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2648" y="5166360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331720" y="5166360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41448" y="5166360"/>
            <a:ext cx="2935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/ cost of extra layers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77840" y="5166360"/>
            <a:ext cx="6263640" cy="713232"/>
          </a:xfrm>
          <a:prstGeom prst="roundRect">
            <a:avLst>
              <a:gd name="adj" fmla="val 10256"/>
            </a:avLst>
          </a:prstGeom>
          <a:solidFill>
            <a:srgbClr val="F1F5FC"/>
          </a:solidFill>
          <a:ln w="12700">
            <a:solidFill>
              <a:srgbClr val="E3E8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87568" y="5166360"/>
            <a:ext cx="6044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each layer toggleable; report the cost-accuracy frontier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Risk Analysis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Paper and Provisional Patent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veritas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14" y="185097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Venues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TPS 2026 — CFP explicitly lists RAG security, poisoning &amp; unlearning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CAI 2026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 2026 (Scopus / EI indexed)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 journals: IEEE Access, MDPI Information / Electronics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5544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veritas/icons/gave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854" y="1850974"/>
            <a:ext cx="367132" cy="3671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7830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 Claims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46888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1: gate retrieval by cryptographically-verified document provenance to suppress poisoned content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2: verifiable erasure from a vector index producing a signed deletion receipt resistant to reconstruction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strategy: Indian provisional first (low cost, establishes priority), then PCT if traction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Publication &amp; Patent Roadmap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(3–5 YEARS)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Beyond the Degree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2263140"/>
          </a:xfrm>
          <a:prstGeom prst="roundRect">
            <a:avLst>
              <a:gd name="adj" fmla="val 323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393442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veritas/icons/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89" y="2484791"/>
            <a:ext cx="493959" cy="4939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562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RAG Firewall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258568"/>
            <a:ext cx="40233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layer sold as a service to enterprise RAG deployments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2263140"/>
          </a:xfrm>
          <a:prstGeom prst="roundRect">
            <a:avLst>
              <a:gd name="adj" fmla="val 323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2393442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veritas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309" y="2484791"/>
            <a:ext cx="493959" cy="4939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562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On-Prem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406640" y="2258568"/>
            <a:ext cx="40233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BFSI / government — data-residency friendly, DPDP-aligned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4183380"/>
            <a:ext cx="5394960" cy="2263140"/>
          </a:xfrm>
          <a:prstGeom prst="roundRect">
            <a:avLst>
              <a:gd name="adj" fmla="val 323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4976622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veritas/icons/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589" y="5067971"/>
            <a:ext cx="493959" cy="4939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394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Core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5920" y="4841748"/>
            <a:ext cx="40233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 engine with a paid governance / audit tier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4183380"/>
            <a:ext cx="5394960" cy="2263140"/>
          </a:xfrm>
          <a:prstGeom prst="roundRect">
            <a:avLst>
              <a:gd name="adj" fmla="val 3232"/>
            </a:avLst>
          </a:prstGeom>
          <a:solidFill>
            <a:srgbClr val="F1F5FC"/>
          </a:solidFill>
          <a:ln w="12700">
            <a:solidFill>
              <a:srgbClr val="F1F5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37960" y="4976622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veritas/icons/flas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309" y="5067971"/>
            <a:ext cx="493959" cy="4939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4394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Extensions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06640" y="4841748"/>
            <a:ext cx="40233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and multimodal RAG threat coverage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VeritasRAG — Future Scope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23157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141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141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84368" y="777240"/>
            <a:ext cx="822960" cy="82296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veritas/icons/checkcirc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467" y="888340"/>
            <a:ext cx="600761" cy="6007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28800"/>
            <a:ext cx="11277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VeritasRAG: Novel. Patentable.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Commercially Real.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71600" y="2971800"/>
            <a:ext cx="9448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verifiable integrity layer unifying poisoning detection, cryptographic provenance, and verifiable unlearning — grounded in the student's proven RAG / LangGraph skillset, and mapped directly onto India's DPDP compliance deadline.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72888" y="4343400"/>
            <a:ext cx="1645920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0" y="46177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1738</Words>
  <Application>Microsoft Office PowerPoint</Application>
  <PresentationFormat>Widescreen</PresentationFormat>
  <Paragraphs>289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6</cp:revision>
  <dcterms:created xsi:type="dcterms:W3CDTF">2026-07-26T18:17:16Z</dcterms:created>
  <dcterms:modified xsi:type="dcterms:W3CDTF">2026-07-31T06:48:40Z</dcterms:modified>
</cp:coreProperties>
</file>
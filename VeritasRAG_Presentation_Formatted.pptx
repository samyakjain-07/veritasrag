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5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563C2B-B2FE-48A6-981C-D9BCFB051CEB}" v="2" dt="2026-07-31T09:14:55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067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95D5D-C307-4246-8476-41DB74C33D46}" type="datetime1">
              <a:rPr lang="en-IN" smtClean="0"/>
              <a:t>31-07-2026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02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8" y="292608"/>
            <a:ext cx="2926080" cy="1297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916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CSE - Data Science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22402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1st Mini Project Presentation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4400" y="30632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Name: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35661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VeritasRAG</a:t>
            </a:r>
            <a:r>
              <a:rPr lang="en-US" sz="22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A Trustworthy RAG Integrity Layer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40233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Poisoning  ·  Verify Provenance  ·  Prove Erasure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577F30-7FB3-C4F3-57B6-4B266B23DF40}"/>
              </a:ext>
            </a:extLst>
          </p:cNvPr>
          <p:cNvSpPr txBox="1"/>
          <p:nvPr/>
        </p:nvSpPr>
        <p:spPr>
          <a:xfrm>
            <a:off x="4596560" y="4361688"/>
            <a:ext cx="2998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GROUP - 2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2254B9-8A31-0FB0-0D9E-0E07542B610B}"/>
              </a:ext>
            </a:extLst>
          </p:cNvPr>
          <p:cNvSpPr txBox="1"/>
          <p:nvPr/>
        </p:nvSpPr>
        <p:spPr>
          <a:xfrm>
            <a:off x="4257438" y="4662968"/>
            <a:ext cx="367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Team Members: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EC68A-36A1-E157-EA1C-9AC9915F9E1D}"/>
              </a:ext>
            </a:extLst>
          </p:cNvPr>
          <p:cNvSpPr txBox="1"/>
          <p:nvPr/>
        </p:nvSpPr>
        <p:spPr>
          <a:xfrm>
            <a:off x="2489322" y="4970254"/>
            <a:ext cx="768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Samyak Jain              Rohit Kumar           Sameer Gurjar          Ronak </a:t>
            </a:r>
            <a:r>
              <a:rPr lang="en-US" dirty="0" err="1"/>
              <a:t>Deshwal</a:t>
            </a:r>
            <a:endParaRPr lang="en-US" dirty="0"/>
          </a:p>
          <a:p>
            <a:r>
              <a:rPr lang="en-US" sz="1400" dirty="0"/>
              <a:t>(2300321540162)               (2300321540154)           (2300321540161)               (2300321540156)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2F3D2F-1899-D445-CAFD-906912794A0F}"/>
              </a:ext>
            </a:extLst>
          </p:cNvPr>
          <p:cNvSpPr txBox="1"/>
          <p:nvPr/>
        </p:nvSpPr>
        <p:spPr>
          <a:xfrm>
            <a:off x="3962246" y="570193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Guide : Ms. Shreya Mam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91" name="Process 4"/>
          <p:cNvSpPr/>
          <p:nvPr/>
        </p:nvSpPr>
        <p:spPr>
          <a:xfrm>
            <a:off x="-412141" y="0"/>
            <a:ext cx="12584343" cy="705549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Introduction </a:t>
            </a:r>
          </a:p>
          <a:p>
            <a:pPr algn="ctr"/>
            <a:r>
              <a:rPr lang="en-US" dirty="0"/>
              <a:t>Methodology with flow diagram </a:t>
            </a:r>
          </a:p>
          <a:p>
            <a:pPr algn="ctr"/>
            <a:r>
              <a:rPr lang="en-US" dirty="0"/>
              <a:t>Complete implementation </a:t>
            </a:r>
          </a:p>
          <a:p>
            <a:pPr algn="ctr"/>
            <a:r>
              <a:rPr lang="en-US" dirty="0"/>
              <a:t>Research Paper 1 status- Certificate </a:t>
            </a:r>
          </a:p>
          <a:p>
            <a:pPr algn="ctr"/>
            <a:r>
              <a:rPr lang="en-US" dirty="0"/>
              <a:t>Research Paper 2 Status - Acceptance </a:t>
            </a:r>
          </a:p>
          <a:p>
            <a:pPr algn="ctr"/>
            <a:r>
              <a:rPr lang="en-US" dirty="0"/>
              <a:t>Reference</a:t>
            </a:r>
          </a:p>
        </p:txBody>
      </p:sp>
      <p:pic>
        <p:nvPicPr>
          <p:cNvPr id="2097153" name="Picture 2" descr="ABESEC OL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2" name="Title 1"/>
          <p:cNvSpPr txBox="1"/>
          <p:nvPr/>
        </p:nvSpPr>
        <p:spPr>
          <a:xfrm>
            <a:off x="1733410" y="139638"/>
            <a:ext cx="8467046" cy="618752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  <a:p>
            <a:pPr algn="ctr"/>
            <a:endParaRPr lang="en-US" sz="3800" b="1" dirty="0">
              <a:latin typeface="+mn-lt"/>
            </a:endParaRPr>
          </a:p>
          <a:p>
            <a:pPr algn="ctr"/>
            <a:endParaRPr lang="en-US" sz="3800" b="1" dirty="0">
              <a:latin typeface="+mn-lt"/>
            </a:endParaRPr>
          </a:p>
        </p:txBody>
      </p:sp>
      <p:sp>
        <p:nvSpPr>
          <p:cNvPr id="104859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  <p:sp>
        <p:nvSpPr>
          <p:cNvPr id="1048659" name="TextBox 1048658"/>
          <p:cNvSpPr txBox="1"/>
          <p:nvPr/>
        </p:nvSpPr>
        <p:spPr>
          <a:xfrm rot="21600000">
            <a:off x="593893" y="1255208"/>
            <a:ext cx="7143412" cy="35394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IN" sz="2800" dirty="0"/>
              <a:t>Title</a:t>
            </a:r>
            <a:br>
              <a:rPr lang="en-IN" sz="2800" dirty="0"/>
            </a:br>
            <a:r>
              <a:rPr lang="en-IN" sz="2800" dirty="0"/>
              <a:t>Problem Statement</a:t>
            </a:r>
            <a:endParaRPr lang="en-US" sz="2800" dirty="0">
              <a:solidFill>
                <a:srgbClr val="000000"/>
              </a:solidFill>
            </a:endParaRPr>
          </a:p>
          <a:p>
            <a:r>
              <a:rPr lang="en-IN" sz="2800" dirty="0"/>
              <a:t>Proposed Topic</a:t>
            </a:r>
            <a:br>
              <a:rPr lang="en-IN" sz="2800" dirty="0"/>
            </a:br>
            <a:r>
              <a:rPr lang="en-IN" sz="2800" dirty="0"/>
              <a:t>Why This Topic?</a:t>
            </a:r>
            <a:endParaRPr lang="en-US" sz="2800" dirty="0">
              <a:solidFill>
                <a:srgbClr val="000000"/>
              </a:solidFill>
            </a:endParaRPr>
          </a:p>
          <a:p>
            <a:r>
              <a:rPr lang="en-IN" sz="2800" dirty="0"/>
              <a:t>Literature Review / Existing Work</a:t>
            </a:r>
          </a:p>
          <a:p>
            <a:r>
              <a:rPr lang="en-IN" sz="2800" dirty="0"/>
              <a:t>Proposed Methodology</a:t>
            </a:r>
            <a:br>
              <a:rPr lang="en-IN" sz="2800" dirty="0"/>
            </a:br>
            <a:r>
              <a:rPr lang="en-IN" sz="2800" dirty="0"/>
              <a:t>Expected Outcomes</a:t>
            </a:r>
            <a:br>
              <a:rPr lang="en-IN" sz="2800" dirty="0"/>
            </a:br>
            <a:r>
              <a:rPr lang="en-IN" sz="2800" dirty="0"/>
              <a:t>References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48660" name="TextBox 1048659"/>
          <p:cNvSpPr txBox="1"/>
          <p:nvPr/>
        </p:nvSpPr>
        <p:spPr>
          <a:xfrm>
            <a:off x="4165600" y="14002278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sz="28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"/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89204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Title &amp; Overview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38648" y="1325880"/>
            <a:ext cx="914400" cy="91440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veritas2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092" y="1449324"/>
            <a:ext cx="667512" cy="6675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2377440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VeritasRAG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Trustworthy RAG Integrity Layer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1645920" y="3794760"/>
            <a:ext cx="8897112" cy="1554480"/>
          </a:xfrm>
          <a:prstGeom prst="roundRect">
            <a:avLst>
              <a:gd name="adj" fmla="val 3529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920240" y="3977640"/>
            <a:ext cx="8348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single middleware layer, sitting between ingestion and retrieval in a RAG pipeline, that unifies three capabilities usually built as separate tools: knowledge-base poisoning detection, cryptographic provenance / trust-tier gating of retrieval, and verifiable machine unlearning for the vector database.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0" y="55321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Poisoning  ·  Verify Provenance  ·  Prove Erasure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82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RAG Trusts Everything That Enters the Knowledge Base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897380" y="1828800"/>
            <a:ext cx="640080" cy="64008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veritas2/icons/exclama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791" y="1915211"/>
            <a:ext cx="467258" cy="4672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651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Poisoning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77240" y="31546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injected document can silently corrupt retrieval and hijack the generated answer  with no gate to stop it.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43400" y="155448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737860" y="1828800"/>
            <a:ext cx="640080" cy="64008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veritas2/icons/fingerpri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271" y="1915211"/>
            <a:ext cx="467258" cy="4672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2651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Provenance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17720" y="31546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Chunks carry no verifiable source or trust signal, so retrieval cannot tell a trusted filing from a planted one.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83880" y="155448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578340" y="1828800"/>
            <a:ext cx="640080" cy="640080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veritas2/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4751" y="1915211"/>
            <a:ext cx="467258" cy="46725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0" y="2651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Unverifiable Erasure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458200" y="31546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“Deleted” data can persist as reconstructible ‘ghost vectors’ inside the index deletion is not proof of deletion.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02920" y="489204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77240" y="489204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Today these are handled by three disconnected tools — security scanners, provenance logs, deletion scripts — and none offer a verifiable guarantee.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82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TOPIC?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Threat Is Proven. The Regulation Is Real.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5800" y="27889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PoisonedRAG attack success rate injecting just 5 malicious texts into a million-document knowledge base (USENIX Security 2025)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64992" y="160020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502152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Rs. 250 Cr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547872" y="27889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Maximum DPDP Act penalty per breach category with no grace period after the compliance deadline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27064" y="160020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64224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 May 2027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409944" y="27889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India's DPDP full-compliance deadline, making the “right to erasure” an operational AI-architecture requirement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089136" y="160020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226296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$9.86 B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272016" y="27889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Projected 2030 RAG market size, up from $1.94B in 2025 a 38.4% CAGR (MarketsandMarkets)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5029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Sources: Zou, Geng, Wang &amp; Jia (USENIX Security 2025); DPDP Act 2023 &amp; DPDP Rules 2025; MarketsandMarkets (Oct/Nov 2025)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82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TOPIC?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 Relevance 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11201400" cy="3830413"/>
          </a:xfrm>
          <a:prstGeom prst="roundRect">
            <a:avLst>
              <a:gd name="adj" fmla="val 1304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veritas2/icons/char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14" y="1759534"/>
            <a:ext cx="367132" cy="3671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691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 Relevance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7239" y="2377440"/>
            <a:ext cx="10363341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RAG market: $1.94B (2025) → $9.86B (2030), 38.4% CAGR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BFSI = largest early-adopter segment; Healthcare = fastest-growing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46% of YC Spring 2025 batch were AI-agent companies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Fast-growing sub-category: observability, evaluation &amp; security infra</a:t>
            </a: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82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 / EXISTING WORK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Defenses Exist  But None Are Unified or Verifiable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53492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veritas2/icons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42" y="1753362"/>
            <a:ext cx="333756" cy="3337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6916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Defenses — Fragmented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77240" y="2286000"/>
            <a:ext cx="4800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TrustRAG, </a:t>
            </a:r>
            <a:r>
              <a:rPr lang="en-US" sz="1150" dirty="0" err="1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RAGuard</a:t>
            </a: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corpus-level filtering, evaded by adaptive single-doc attacks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 err="1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RevPRAG</a:t>
            </a: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 activation-based detection, model-internal only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 err="1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RAGForensics</a:t>
            </a: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traceback/attribution after the fact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remain research prototypes - none combine detection with provenance or erasure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309360" y="1463040"/>
            <a:ext cx="53492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veritas2/icons/gave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682" y="1753362"/>
            <a:ext cx="333756" cy="3337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16916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Patent Landscape — Narrow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583680" y="2286000"/>
            <a:ext cx="4800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HiddenLayer family - activation-based prompt-injection detection only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Preamble US 12,118,471 B2 - token-level trust-tagging for generation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 Digital/Symantec US 10,225,277 B1 - loss-difference unlearning verification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patent couples provenance + poisoning-detection + verifiable vector-DB erasure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5120640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777240" y="512064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gap: no single system or patent unifies detection → provenance → verifiable erasure into one pipeline.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82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Middleware Layer, Three Guarantees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924812" y="1764792"/>
            <a:ext cx="585216" cy="585216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veritas2/icons/exclama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816" y="1843796"/>
            <a:ext cx="427208" cy="4272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514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Poisoning Detection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77240" y="3108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Perplexity + similarity-cluster anomaly detection at the retrieval-corpus level deliberately outside prompt-activation detection patents.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43400" y="150876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002060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765292" y="1764792"/>
            <a:ext cx="585216" cy="585216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veritas2/icons/fingerprin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296" y="1843796"/>
            <a:ext cx="427208" cy="4272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2514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Provenance &amp; Trust-Tier Gating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617720" y="3108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4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Cryptographically signed document provenance; low-trust chunks are down-weighted or quarantined at retrieval time, not after the fact.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83880" y="150876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605772" y="1764792"/>
            <a:ext cx="585216" cy="585216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veritas2/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4776" y="1843796"/>
            <a:ext cx="427208" cy="4272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0" y="25146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Verifiable Unlearning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458200" y="3108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Vector-database deletion issues a signed “deletion receipt” and defends against embedding-reconstruction (‘ghost vector’) attacks.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02920" y="4892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Novel contribution: </a:t>
            </a:r>
            <a:r>
              <a:rPr lang="en-US" sz="12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unified detection → provenance-attribution → verifiable-removal loop, with cryptographic proof-of-deletion for a vector index.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82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— Flow Diagram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01472" y="16916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56336" y="1746504"/>
            <a:ext cx="1517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Ingestion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Gateway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38248" y="2057400"/>
            <a:ext cx="146304" cy="137160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10032" y="2670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Loaders → PII redaction → poison pre-scan → provenance signer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93696" y="16916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648560" y="1746504"/>
            <a:ext cx="1517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30472" y="2057400"/>
            <a:ext cx="146304" cy="137160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02256" y="2670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HuggingFace / OpenAI embedding models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85920" y="16916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40784" y="1746504"/>
            <a:ext cx="1517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DB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 Sidecar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22696" y="2057400"/>
            <a:ext cx="146304" cy="137160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294480" y="2670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Qdrant / Milvus with provenance metadata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78144" y="16916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33008" y="1746504"/>
            <a:ext cx="1517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Retrieval Policy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814920" y="2057400"/>
            <a:ext cx="146304" cy="137160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86704" y="2670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Trust-tier gating + anomaly detection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970368" y="16916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025232" y="1746504"/>
            <a:ext cx="1517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Generation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 Check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607144" y="2057400"/>
            <a:ext cx="146304" cy="137160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878928" y="2670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NLI faithfulness verification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762592" y="16916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817456" y="1746504"/>
            <a:ext cx="1517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LLMOps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671152" y="2670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Traces, ASR monitoring, audit log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02920" y="3977640"/>
            <a:ext cx="11183112" cy="1371600"/>
          </a:xfrm>
          <a:prstGeom prst="roundRect">
            <a:avLst>
              <a:gd name="adj" fmla="val 4000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77240" y="4343400"/>
            <a:ext cx="621792" cy="621792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1" descr="/home/claude/veritas2/icons/lo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82" y="4427342"/>
            <a:ext cx="453908" cy="45390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645920" y="41422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Unlearning Service (parallel path into the Vector DB)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1645920" y="45262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Delete-by-ID request  →  index compaction / rebuild  →  signed deletion receipt (defends against embedding-reconstruction “ghost vectors”)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Backend: FastAPI + Python  •  Orchestration: LangGraph (create_agent)  •  Deployment: Docker + WSL2, GitHub Actions CI/CD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82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&amp; Techniques Under the Hood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394960" cy="1402080"/>
          </a:xfrm>
          <a:prstGeom prst="roundRect">
            <a:avLst>
              <a:gd name="adj" fmla="val 3913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85800" y="1862328"/>
            <a:ext cx="512064" cy="512064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veritas2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29" y="1931457"/>
            <a:ext cx="373807" cy="3738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5087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Poison Detector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371600" y="1819656"/>
            <a:ext cx="43434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Perplexity + similarity-cluster anomaly detection; optional fine-tuned classifier, with LLM-as-judge as a baseline.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263640" y="1417320"/>
            <a:ext cx="5394960" cy="1402080"/>
          </a:xfrm>
          <a:prstGeom prst="roundRect">
            <a:avLst>
              <a:gd name="adj" fmla="val 3913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446520" y="1862328"/>
            <a:ext cx="512064" cy="512064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veritas2/icons/netwo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649" y="1931457"/>
            <a:ext cx="373807" cy="3738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15087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Models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132320" y="1819656"/>
            <a:ext cx="43434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HuggingFace / OpenAI embeddings  the student's existing, proven toolchain.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02920" y="3048000"/>
            <a:ext cx="5394960" cy="1402080"/>
          </a:xfrm>
          <a:prstGeom prst="roundRect">
            <a:avLst>
              <a:gd name="adj" fmla="val 3913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85800" y="3493008"/>
            <a:ext cx="512064" cy="512064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veritas2/icons/checkcirc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929" y="3562137"/>
            <a:ext cx="373807" cy="37380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139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NLI Faithfulness Checker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371600" y="3450336"/>
            <a:ext cx="43434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Verifies that generated answers are actually supported by cited chunks.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263640" y="3048000"/>
            <a:ext cx="5394960" cy="1402080"/>
          </a:xfrm>
          <a:prstGeom prst="roundRect">
            <a:avLst>
              <a:gd name="adj" fmla="val 3913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446520" y="3493008"/>
            <a:ext cx="512064" cy="512064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/home/claude/veritas2/icons/projectdiagram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649" y="3562137"/>
            <a:ext cx="373807" cy="37380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3139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Provenance-Graph GNN (optional)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7132320" y="3450336"/>
            <a:ext cx="43434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 reasoning over document trust and source relationships.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02920" y="4678680"/>
            <a:ext cx="5394960" cy="1402080"/>
          </a:xfrm>
          <a:prstGeom prst="roundRect">
            <a:avLst>
              <a:gd name="adj" fmla="val 3913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685800" y="5123688"/>
            <a:ext cx="512064" cy="512064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/home/claude/veritas2/icons/cod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929" y="5192817"/>
            <a:ext cx="373807" cy="37380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71600" y="47701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LangGraph Orchestration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1371600" y="5081016"/>
            <a:ext cx="43434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on the current langchain.agents.create_agent pattern.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263640" y="4678680"/>
            <a:ext cx="5394960" cy="1402080"/>
          </a:xfrm>
          <a:prstGeom prst="roundRect">
            <a:avLst>
              <a:gd name="adj" fmla="val 3913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6446520" y="5123688"/>
            <a:ext cx="512064" cy="512064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6" descr="/home/claude/veritas2/icons/databas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649" y="5192817"/>
            <a:ext cx="373807" cy="37380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32320" y="47701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Database Core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7132320" y="5081016"/>
            <a:ext cx="43434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Qdrant / Milvus  both already used in the student's prior work.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82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Novelty &amp; Patent Whitespace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3383280" cy="411480"/>
          </a:xfrm>
          <a:prstGeom prst="roundRect">
            <a:avLst>
              <a:gd name="adj" fmla="val 8889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Art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069080" y="1417320"/>
            <a:ext cx="3154680" cy="411480"/>
          </a:xfrm>
          <a:prstGeom prst="roundRect">
            <a:avLst>
              <a:gd name="adj" fmla="val 8889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069080" y="1417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Covers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06640" y="1417320"/>
            <a:ext cx="4279392" cy="411480"/>
          </a:xfrm>
          <a:prstGeom prst="roundRect">
            <a:avLst>
              <a:gd name="adj" fmla="val 8889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06640" y="1417320"/>
            <a:ext cx="4279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VeritasRAG's Position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192024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1792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HiddenLayer patent family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69080" y="1920240"/>
            <a:ext cx="3154680" cy="9144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187952" y="1920240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Activation-based prompt-injection detection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06640" y="1920240"/>
            <a:ext cx="4279392" cy="9144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525512" y="1920240"/>
            <a:ext cx="4041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VeritasRAG detects at the retrieval-corpus level — no overlap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292608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1792" y="292608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 Digital / Symantec US 10,225,277 B1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069080" y="2926080"/>
            <a:ext cx="3154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187952" y="2926080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Loss-difference unlearning verification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406640" y="2926080"/>
            <a:ext cx="4279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525512" y="2926080"/>
            <a:ext cx="4041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Cryptographic deletion receipt at the vector-DB layer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" y="393192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21792" y="393192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existing patent found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069080" y="3931920"/>
            <a:ext cx="3154680" cy="9144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187952" y="3931920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406640" y="3931920"/>
            <a:ext cx="4279392" cy="9144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525512" y="3931920"/>
            <a:ext cx="4041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Unified provenance + poisoning-detection + verifiable-unlearning pipeline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02920" y="49834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independent patent claims: </a:t>
            </a: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(1) gating retrieval by cryptographically-verified provenance to suppress poisoned content; (2) verifiable vector-index erasure producing a signed deletion receipt resistant to reconstruction.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82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Deliverables — Minor → Major Project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5120640" cy="3794760"/>
          </a:xfrm>
          <a:prstGeom prst="roundRect">
            <a:avLst>
              <a:gd name="adj" fmla="val 1446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709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 PROJECT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19842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Prototype 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5603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Poisoning detection + provenance / trust-tier gating on a single vector DB (Qdrant)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Evaluated on a synthetic poisoned corpus built from Natural Questions / HotpotQA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self-contained, publishable unit on its own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733288" y="3204972"/>
            <a:ext cx="694944" cy="402336"/>
          </a:xfrm>
          <a:prstGeom prst="rightArrow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37960" y="1508760"/>
            <a:ext cx="5120640" cy="3794760"/>
          </a:xfrm>
          <a:prstGeom prst="roundRect">
            <a:avLst>
              <a:gd name="adj" fmla="val 1446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12280" y="1709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 PROJECT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12280" y="19842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12280" y="25603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4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Verifiable unlearning with signed cryptographic deletion receipts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4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LLMOps observability dashboard (traces, ASR monitoring, audit log)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4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Agentic-RAG threat coverage, multi-tenant deployment, DPDP-compliance mapping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Threshold to proceed to the major: ≥30-point ASR reduction vs. an undefended baseline at &lt;15% retrieval-precision loss, plus a working signed-provenance metadata path.</a:t>
            </a:r>
            <a:endParaRPr lang="en-US" sz="1400" b="1" dirty="0"/>
          </a:p>
        </p:txBody>
      </p:sp>
      <p:sp>
        <p:nvSpPr>
          <p:cNvPr id="16" name="Text 13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82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 — Milestones M1 → M7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77240" y="2788920"/>
            <a:ext cx="10607040" cy="0"/>
          </a:xfrm>
          <a:prstGeom prst="line">
            <a:avLst/>
          </a:prstGeom>
          <a:noFill/>
          <a:ln w="381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30352" y="2542032"/>
            <a:ext cx="493776" cy="493776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0352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0" y="1463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Threat model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synthetic poison generator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98192" y="2542032"/>
            <a:ext cx="493776" cy="493776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298192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767840" y="317296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Detector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trust-tier gating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066032" y="2542032"/>
            <a:ext cx="493776" cy="493776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066032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35680" y="1463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 paper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33872" y="2542032"/>
            <a:ext cx="493776" cy="493776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33872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03520" y="317296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Verifiable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unlearning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601712" y="2542032"/>
            <a:ext cx="493776" cy="493776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601712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71360" y="1463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369552" y="2542032"/>
            <a:ext cx="493776" cy="493776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369552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839200" y="317296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Agentic-RAG coverage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provisional patent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1137392" y="2542032"/>
            <a:ext cx="493776" cy="493776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1137392" y="2542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M7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607040" y="1463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paper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02920" y="502920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85800" y="5221224"/>
            <a:ext cx="182880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05840" y="5029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M1–M3  =  Minor Project (prototype)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126480" y="5029200"/>
            <a:ext cx="5559552" cy="731520"/>
          </a:xfrm>
          <a:prstGeom prst="roundRect">
            <a:avLst>
              <a:gd name="adj" fmla="val 7500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309360" y="5221224"/>
            <a:ext cx="182880" cy="18288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62940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M4–M7  =  Major Project (production)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82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Plan &amp; Success Criteria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83112" cy="960120"/>
          </a:xfrm>
          <a:prstGeom prst="roundRect">
            <a:avLst>
              <a:gd name="adj" fmla="val 5714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58952" y="1554480"/>
            <a:ext cx="658368" cy="658368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veritas2/icons/checkcircl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32" y="1643360"/>
            <a:ext cx="480609" cy="4806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41732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 threshold: </a:t>
            </a:r>
            <a:r>
              <a:rPr lang="en-US" sz="12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≥30-point ASR reduction vs. an undefended baseline, at &lt;15% retrieval-precision loss, plus a working signed-provenance metadata path.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2920" y="256032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31520" y="27249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310896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Success Rate (ASR) reduction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Poison-detection precision / recall / F1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Retrieval-precision degradation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Unlearning verification (membership-inference resistance)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Deletion latency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2560320"/>
            <a:ext cx="5349240" cy="2834640"/>
          </a:xfrm>
          <a:prstGeom prst="roundRect">
            <a:avLst>
              <a:gd name="adj" fmla="val 1935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537960" y="27249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Benchmarks &amp; Datasets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37960" y="310896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 Questions, MS-MARCO, </a:t>
            </a:r>
            <a:r>
              <a:rPr lang="en-US" sz="1100" dirty="0" err="1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HotpotQA</a:t>
            </a: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poisoning ASR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RAG Security Bench  for defense comparison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TOFU / WMDP-style suites  for unlearning verification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82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Impact — Market &amp; Risk Snapshot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1618488"/>
            <a:ext cx="457200" cy="457200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veritas2/icons/rocke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42" y="1680210"/>
            <a:ext cx="333756" cy="3337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6184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Commercial Impact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77240" y="2194560"/>
            <a:ext cx="4800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SaaS “RAG firewall + compliance layer” for enterprise deployments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 on-prem for BFSI / government — DPDP-aligned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Open-source core with a paid governance / audit tier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Directly serves a $9.86B (2030) projected RAG market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309360" y="141732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537960" y="1618488"/>
            <a:ext cx="457200" cy="45720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veritas2/icons/exclamati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682" y="1680210"/>
            <a:ext cx="333756" cy="3337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16184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Risks &amp; Mitigations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583680" y="2194560"/>
            <a:ext cx="4800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attackers → defense-in-depth + human-in-the-loop review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Crowded research space → differentiate via unified, verifiable framing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Patent overlap → avoid activation-based &amp; loss-difference claims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 latency → make every layer independently toggleable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82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Paper Status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11183112" cy="1554480"/>
          </a:xfrm>
          <a:prstGeom prst="roundRect">
            <a:avLst>
              <a:gd name="adj" fmla="val 3529"/>
            </a:avLst>
          </a:prstGeom>
          <a:solidFill>
            <a:srgbClr val="EEF2F9"/>
          </a:solidFill>
          <a:ln w="12700">
            <a:solidFill>
              <a:srgbClr val="C9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7240" y="2286000"/>
            <a:ext cx="640080" cy="64008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veritas2/icons/filecontrac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51" y="2372411"/>
            <a:ext cx="467258" cy="4672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057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Paper 1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64592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Title: Multilingual Conversational Agents in Preventive Healthcare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64592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Status: Accepted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82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103120" y="475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Zou, W., Geng, R., Wang, B., &amp; Jia, J. (2025). PoisonedRAG: Knowledge Corruption Attacks to Retrieval-Augmented Generation of LLMs. USENIX Security Symposium 2025.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CorruptRAG and AuthChain (2025) — single-document poisoning attacks on RAG systems.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TrustRAG; RAGuard (arXiv 2510.25025); RevPRAG (arXiv 2411.18948); RAGForensics — RAG defense literature.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Xiang, C. et al. Certifiably Robust RAG. NeurIPS 2024/2025.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Wang, Y. et al. When Machine Unlearning Meets Retrieval-Augmented Generation. IEEE TDSC 2025.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Digital Personal Data Protection Act, 2023 and DPDP Rules, 2025, Government of India.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SCC Times (27 June 2026). The Right to Digital Erasure: Cryptographically Verifiable Machine Unlearning.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S.S. Rana &amp; Co. — commentary on the reliability of machine unlearning.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MarketsandMarkets (Oct/Nov 2025). Retrieval-Augmented Generation (RAG) Market — Global Forecast to 2030.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PitchBook; CB Insights — Y Combinator agentic-AI batch composition data (2025).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US Patents: HiddenLayer injection-detection family (US 12,107,885 B1 et al.); Preamble US 12,118,471 B2; Gen Digital/Symantec US 10,225,277 B1; Dropbox US 12,373,506 B1; Provenance Chain Network US 12,387,226.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36576"/>
            <a:ext cx="12118543" cy="6784848"/>
          </a:xfrm>
          <a:prstGeom prst="rect">
            <a:avLst/>
          </a:prstGeom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veritas2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46304"/>
            <a:ext cx="1828800" cy="810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2651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73736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60520" y="6382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1597</Words>
  <Application>Microsoft Office PowerPoint</Application>
  <PresentationFormat>Widescreen</PresentationFormat>
  <Paragraphs>244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1</cp:revision>
  <dcterms:created xsi:type="dcterms:W3CDTF">2026-07-31T09:01:05Z</dcterms:created>
  <dcterms:modified xsi:type="dcterms:W3CDTF">2026-07-31T10:30:27Z</dcterms:modified>
</cp:coreProperties>
</file>